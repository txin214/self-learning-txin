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3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956F-5EBF-1950-EF06-B5DAA3617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42D11-8E53-C24E-B890-20634F53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9C191-4C0A-64D7-FCA4-F663F25B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36C5D-17C8-264D-59FA-F22AA6EE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409BE-12EB-5315-1658-77BD3BB0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5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7F6D-E0AF-F7A0-01B0-1C62BB13C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D75D6-99E9-E884-A03A-80E641D7E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F2036-719B-34C2-4F85-051F5EC9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52262-7DEB-F4F0-7F70-97C254E0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A1D9-8DA9-8B9B-3BA0-7F21F307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6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C418-7BED-B8E3-429B-1BCA78B8F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3E747-6ADE-9D20-7154-9D6AA824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BBCF0-15D1-8C2F-B45E-45C9E81B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A30B3-6C6F-F2B3-7B22-01D0A10D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8021B-F8D0-BC10-B4DE-DE6CED6D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3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0B87-3210-C3C8-DD39-F8B15201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70BAB-DA09-37BF-9BF8-C91FB699B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1A958-F2E0-42EF-C9BD-A67D00E15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4C504-7C00-D817-B106-CA288ED3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D51B2-F69A-F267-FB71-16A0443E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90ED9-4502-33BC-A9FA-03E846A80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5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B4E3-95AB-E7D9-90AD-3E6AFD14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C2248-7EF4-5465-21B7-8BA39C105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04D28-4A03-09B7-5ED2-C5CD6C108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6F5A7-D3A1-050A-DF9E-E9CE94563A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EF7324-6248-B5D8-BD57-E57890A14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EF045-B57E-27B6-9DC6-48D18A4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74A9F-E9A8-F399-2CBD-D6AEEF9E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90E2D2-96A8-3592-E572-7664187B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4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1AE0-DEBE-E79E-E160-2DE1DF8E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D144CF-21FB-7629-6FD6-65CE0E2E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1BFFF-1397-32B8-9623-31256AFC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1E1D1-2995-0583-8A43-44A3A198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5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8DDAF7-BE75-5149-2599-684C0564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1DD20-BA9E-1185-20E8-DD487F2C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F37CC-BDC1-330E-CC93-152BF1AF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2F51-7D41-9D61-E37B-62E6C02AE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4B7E2-B234-4BAA-AB15-632753248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EBEB9-DF81-C006-3E1B-30074404D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0826C-8E6A-747C-46F6-D82E45BA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BEEC3-48DA-5101-0A65-9B39CECB9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58FE7-EC2D-4C5B-FD5E-C555329C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7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BCC6-D214-E2A9-090A-17A1356F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DD39D1-C659-5066-86BD-E7FF0F3B9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4E35A-F46C-0B40-3854-8EE173F80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384F3-B6B4-5419-181A-15724F28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1464B-BD3E-76F2-FF3C-D6A6B8AE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1EF68-506E-55D0-9FCB-83D1182F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2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5743-53EB-01E3-4974-638F624B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1017A-B250-A7E2-91B2-D3162D558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9CA7F-BAFD-D6D8-154A-A95415C33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026A8-1519-8612-4549-9AA4BFFC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8B668-7058-AFCD-67C4-98F3A6BA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09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A78D3-819D-6C9D-5485-9C147235C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BC686-E55F-6A49-DD27-6A22276B1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E7D29-7B3C-4483-B2A0-B58AFD79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2C20-14D2-0FBF-7031-60B389A7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9A8E7-E6E8-18B0-9FE2-5DFBCD6F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5F3FE-C780-7568-3F6A-93F8AB99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8CA70-4366-D3F7-6451-D7BF3E47D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1D58B-BEC6-FCC5-7844-81785C6A6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5AE81-BB86-CB4A-8E7D-DA12AF501FC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1EB5E-9FF7-84F7-8A79-B2C2E7D93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F012E-3F48-2841-33BF-FA7683F69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5FC64-D325-ED4E-A51B-CF9B3F43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3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03F6-58EA-B146-CF4B-61517A665B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Early Prediction of Acute Kidney Injury in ICU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BBB5A-1EE6-77CA-2EE0-A494C1F5A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4687"/>
            <a:ext cx="9144000" cy="1655762"/>
          </a:xfrm>
        </p:spPr>
        <p:txBody>
          <a:bodyPr/>
          <a:lstStyle/>
          <a:p>
            <a:r>
              <a:rPr lang="en-US" dirty="0"/>
              <a:t>                        </a:t>
            </a:r>
            <a:r>
              <a:rPr lang="en-US" dirty="0" err="1"/>
              <a:t>Tianshu</a:t>
            </a:r>
            <a:r>
              <a:rPr lang="en-US" dirty="0"/>
              <a:t> Xin</a:t>
            </a:r>
          </a:p>
          <a:p>
            <a:r>
              <a:rPr lang="en-US" dirty="0"/>
              <a:t>                      2026/3/14</a:t>
            </a:r>
          </a:p>
        </p:txBody>
      </p:sp>
    </p:spTree>
    <p:extLst>
      <p:ext uri="{BB962C8B-B14F-4D97-AF65-F5344CB8AC3E}">
        <p14:creationId xmlns:p14="http://schemas.microsoft.com/office/powerpoint/2010/main" val="4147269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C7EE-BD6A-B7D7-905E-A6FE93856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AKI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CA4E-6C62-60B5-7238-052B7B172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Acute Kidney Injury = sudden loss of kidney function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Affects ~20% of ICU patients (your data confirms 22%)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Associated with increased mortality, longer hospital stay, higher costs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Key point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Early detection is critical — treatment is most effective in first 24–48h</a:t>
            </a:r>
          </a:p>
        </p:txBody>
      </p:sp>
    </p:spTree>
    <p:extLst>
      <p:ext uri="{BB962C8B-B14F-4D97-AF65-F5344CB8AC3E}">
        <p14:creationId xmlns:p14="http://schemas.microsoft.com/office/powerpoint/2010/main" val="4137823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A9D7-21C1-1462-D894-8FB659A46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&amp;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77623-FFDD-12D1-85A0-5BF042EB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Goal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Predict AKI within the first 24h of ICU admission using routine lab values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Data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MIMIC-III clinical database (real de-identified ICU data, Beth Israel Deaconess Medical Center)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Method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Binary classification (AKI = 1, No AKI = 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97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9848-9823-1142-C483-359F8F89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Dataset &amp; Cohort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50C16-DFCB-F059-D99B-F148603A9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46,520 patients → 40,752 eligible ICU stays (after filtering adults with lab data)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Symbol" pitchFamily="2" charset="2"/>
              </a:rPr>
              <a:t>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AKI label based on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creatinine rise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(KDIGO-style criterion)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Features: first-24h labs + age</a:t>
            </a: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67C12-9FB7-939F-B1E6-820D83D72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505" y="3931515"/>
            <a:ext cx="6060989" cy="276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3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9490-7B1D-162F-AC20-B670B95B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used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D263C3C-C73B-780D-8D59-D3E002358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915237"/>
              </p:ext>
            </p:extLst>
          </p:nvPr>
        </p:nvGraphicFramePr>
        <p:xfrm>
          <a:off x="838200" y="1825625"/>
          <a:ext cx="9925824" cy="367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2912">
                  <a:extLst>
                    <a:ext uri="{9D8B030D-6E8A-4147-A177-3AD203B41FA5}">
                      <a16:colId xmlns:a16="http://schemas.microsoft.com/office/drawing/2014/main" val="2719309158"/>
                    </a:ext>
                  </a:extLst>
                </a:gridCol>
                <a:gridCol w="4962912">
                  <a:extLst>
                    <a:ext uri="{9D8B030D-6E8A-4147-A177-3AD203B41FA5}">
                      <a16:colId xmlns:a16="http://schemas.microsoft.com/office/drawing/2014/main" val="1263715341"/>
                    </a:ext>
                  </a:extLst>
                </a:gridCol>
              </a:tblGrid>
              <a:tr h="4590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519611"/>
                  </a:ext>
                </a:extLst>
              </a:tr>
              <a:tr h="4590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Creatinine(min/max/mean)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146695"/>
                  </a:ext>
                </a:extLst>
              </a:tr>
              <a:tr h="459068">
                <a:tc>
                  <a:txBody>
                    <a:bodyPr/>
                    <a:lstStyle/>
                    <a:p>
                      <a:pPr algn="ctr"/>
                      <a:r>
                        <a:rPr lang="en-US" b="0" i="0" u="none" strike="noStrike" dirty="0">
                          <a:solidFill>
                            <a:srgbClr val="000000"/>
                          </a:solidFill>
                          <a:effectLst/>
                          <a:latin typeface="-webkit-standard"/>
                        </a:rPr>
                        <a:t>Hemoglobin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681814"/>
                  </a:ext>
                </a:extLst>
              </a:tr>
              <a:tr h="4590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079664"/>
                  </a:ext>
                </a:extLst>
              </a:tr>
              <a:tr h="4590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666014"/>
                  </a:ext>
                </a:extLst>
              </a:tr>
              <a:tr h="4590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Potassium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178307"/>
                  </a:ext>
                </a:extLst>
              </a:tr>
              <a:tr h="4590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Bicarbonate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393894"/>
                  </a:ext>
                </a:extLst>
              </a:tr>
              <a:tr h="4590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Demographics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92906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0BF4D9E-5E31-131A-608A-CFC1B912297B}"/>
              </a:ext>
            </a:extLst>
          </p:cNvPr>
          <p:cNvSpPr txBox="1"/>
          <p:nvPr/>
        </p:nvSpPr>
        <p:spPr>
          <a:xfrm>
            <a:off x="5195329" y="251803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6F3EF3-9ABE-3108-25BA-B3B98BF25787}"/>
              </a:ext>
            </a:extLst>
          </p:cNvPr>
          <p:cNvSpPr txBox="1"/>
          <p:nvPr/>
        </p:nvSpPr>
        <p:spPr>
          <a:xfrm>
            <a:off x="838200" y="5633106"/>
            <a:ext cx="464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All from the </a:t>
            </a:r>
            <a:r>
              <a:rPr lang="en-US" b="1" i="0" u="none" strike="noStrike">
                <a:solidFill>
                  <a:srgbClr val="000000"/>
                </a:solidFill>
                <a:effectLst/>
                <a:latin typeface="-webkit-standard"/>
              </a:rPr>
              <a:t>first 24 hours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 of ICU stay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49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AEF21-459B-0962-F009-4A43D92B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Methodology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01D7-7379-5C6C-634A-3F17B8449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 Raw MIMIC-III CSVs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↓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Cohort Selection (adult ICU stays)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↓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AKI Labeling (creatinine criteria)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↓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Feature Extraction (first-24h labs)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↓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Train / Val / Test Split (70/15/15%)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↓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Model Training (LR, RF, XGBoost)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↓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Evaluation (AUC, F1, Accuracy)</a:t>
            </a:r>
          </a:p>
        </p:txBody>
      </p:sp>
    </p:spTree>
    <p:extLst>
      <p:ext uri="{BB962C8B-B14F-4D97-AF65-F5344CB8AC3E}">
        <p14:creationId xmlns:p14="http://schemas.microsoft.com/office/powerpoint/2010/main" val="35193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7184-1A0A-E4E3-EB65-A63D982C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Results: ROC Curves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1BBE1-3A8E-9758-5231-255D4169C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Random Forest best: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AUC = 0.771</a:t>
            </a: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All models significantly above random baseline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5AAD7-5D87-F131-6419-002143BB1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158" y="2896053"/>
            <a:ext cx="4663111" cy="396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6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8CE85-D527-07A7-9A1B-8EACEC2B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Results: Model Comparison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4C492-B596-EAFD-D525-99418601E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Random Forest: AUC 0.771, F1 0.519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XGBoost: AUC 0.765, F1 0.524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Logistic Regression: AUC 0.739, F1 0.489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50FE16-4D8B-47DC-8AD7-D3358E5D6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8200" y="3455193"/>
            <a:ext cx="9218830" cy="285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3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DB53-F1F9-50B8-FE5B-0B9D432CA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Key Predictors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FD02E-8E3A-3C65-21C7-F2B896AD8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Creatinine (max/mean/min) dominates — clinically expected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Sodium and hemoglobin also contribute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Age is a moderate predictor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EE512-97AA-C8EA-8AC6-3258E8AED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687" y="3429000"/>
            <a:ext cx="8120449" cy="327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44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A446-D949-A532-2737-E35C067A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Lab Differences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4BF9F-477B-44DB-C36D-25899E510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AKI patients show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elevated creatinine and BUN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even in the first 24h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validates the features are clinically meaningful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4777D-B113-8E5D-D9B9-76258837C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051" y="3196548"/>
            <a:ext cx="8131897" cy="298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02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81E2-8CD4-6089-5C7A-87FAF73C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Limitations &amp; Future Work</a:t>
            </a:r>
            <a:b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Limitations</a:t>
            </a:r>
            <a:b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56B9B-CBD1-33F9-E7A6-3E66E1F79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Limitations</a:t>
            </a: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AKI defined by creatinine only (no urine output data)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Single-center dataset (BIDMC) — may not generalize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No temporal modeling (labs treated as summary statistics)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Future Work</a:t>
            </a: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Add vital signs (heart rate, blood pressure, SpO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mbria Math"/>
              </a:rPr>
              <a:t>₂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LSTM/Transformer for time-series modeling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Apply SHAP for clinical explainability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080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64B3-71F2-C5B6-646D-6A97DF78E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FC03E-0887-4D1A-5EFE-E49A19A1E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Built an end-to-end AKI prediction pipeline from real ICU data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Random Forest achieves AUC = 0.771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using only first-24h routine labs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Demonstrates that early AKI risk stratification is feasible with standard clinical data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Could support clinical decision-making if validated prospectively</a:t>
            </a: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r>
              <a:rPr lang="en-US">
                <a:solidFill>
                  <a:srgbClr val="000000"/>
                </a:solidFill>
                <a:latin typeface="-webkit-standard"/>
              </a:rPr>
              <a:t>https://github.com/txin214/self-learning-txin</a:t>
            </a: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</p:spTree>
    <p:extLst>
      <p:ext uri="{BB962C8B-B14F-4D97-AF65-F5344CB8AC3E}">
        <p14:creationId xmlns:p14="http://schemas.microsoft.com/office/powerpoint/2010/main" val="3159594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459</Words>
  <Application>Microsoft Office PowerPoint</Application>
  <PresentationFormat>宽屏</PresentationFormat>
  <Paragraphs>78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Symbol</vt:lpstr>
      <vt:lpstr>-webkit-standard</vt:lpstr>
      <vt:lpstr>Office Theme</vt:lpstr>
      <vt:lpstr>Early Prediction of Acute Kidney Injury in ICU using Machine Learning</vt:lpstr>
      <vt:lpstr>What is AKI</vt:lpstr>
      <vt:lpstr>Objective &amp; Approach</vt:lpstr>
      <vt:lpstr>Dataset &amp; Cohort</vt:lpstr>
      <vt:lpstr>Features used</vt:lpstr>
      <vt:lpstr>Methodology Pipeline</vt:lpstr>
      <vt:lpstr>Results: ROC Curves</vt:lpstr>
      <vt:lpstr>Results: Model Comparison</vt:lpstr>
      <vt:lpstr>Key Predictors</vt:lpstr>
      <vt:lpstr>Lab Differences</vt:lpstr>
      <vt:lpstr>Limitations &amp; Future Work Limitations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Prediction of Acute Kidney Injury in ICU using Machine Learning</dc:title>
  <dc:creator>Tianshu Xin</dc:creator>
  <cp:lastModifiedBy>Li Men</cp:lastModifiedBy>
  <cp:revision>6</cp:revision>
  <dcterms:created xsi:type="dcterms:W3CDTF">2026-03-16T17:01:29Z</dcterms:created>
  <dcterms:modified xsi:type="dcterms:W3CDTF">2026-03-16T23:08:59Z</dcterms:modified>
</cp:coreProperties>
</file>